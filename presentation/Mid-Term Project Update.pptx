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6.xml"/><Relationship Id="rId22" Type="http://schemas.openxmlformats.org/officeDocument/2006/relationships/font" Target="fonts/Inter-boldItalic.fntdata"/><Relationship Id="rId10" Type="http://schemas.openxmlformats.org/officeDocument/2006/relationships/slide" Target="slides/slide5.xml"/><Relationship Id="rId21" Type="http://schemas.openxmlformats.org/officeDocument/2006/relationships/font" Target="fonts/Int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regular.fntdata"/><Relationship Id="rId6" Type="http://schemas.openxmlformats.org/officeDocument/2006/relationships/slide" Target="slides/slide1.xml"/><Relationship Id="rId18" Type="http://schemas.openxmlformats.org/officeDocument/2006/relationships/font" Target="fonts/Inter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d42de159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ad42de1592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d42de159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ad42de1592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11" Type="http://schemas.openxmlformats.org/officeDocument/2006/relationships/image" Target="../media/image6.png"/><Relationship Id="rId10" Type="http://schemas.openxmlformats.org/officeDocument/2006/relationships/image" Target="../media/image3.png"/><Relationship Id="rId12" Type="http://schemas.openxmlformats.org/officeDocument/2006/relationships/image" Target="../media/image2.png"/><Relationship Id="rId9" Type="http://schemas.openxmlformats.org/officeDocument/2006/relationships/image" Target="../media/image30.png"/><Relationship Id="rId5" Type="http://schemas.openxmlformats.org/officeDocument/2006/relationships/image" Target="../media/image15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11" Type="http://schemas.openxmlformats.org/officeDocument/2006/relationships/image" Target="../media/image32.png"/><Relationship Id="rId10" Type="http://schemas.openxmlformats.org/officeDocument/2006/relationships/image" Target="../media/image28.png"/><Relationship Id="rId12" Type="http://schemas.openxmlformats.org/officeDocument/2006/relationships/image" Target="../media/image18.png"/><Relationship Id="rId9" Type="http://schemas.openxmlformats.org/officeDocument/2006/relationships/image" Target="../media/image30.png"/><Relationship Id="rId5" Type="http://schemas.openxmlformats.org/officeDocument/2006/relationships/image" Target="../media/image15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3.png"/><Relationship Id="rId5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60701"/>
            <a:ext cx="8572500" cy="171985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477589"/>
            <a:ext cx="8572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MID-TERM PROJECT UPDATE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1132879"/>
            <a:ext cx="90012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Transformer for Time Series Anomaly Detection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2793474"/>
            <a:ext cx="85725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Building and evaluating a compact, efficient model for </a:t>
            </a:r>
            <a:b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temporal data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051226"/>
            <a:ext cx="43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GROUP 7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375076"/>
            <a:ext cx="4095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Julian &amp; Lars </a:t>
            </a:r>
            <a:endParaRPr b="1" sz="16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048250" y="5051226"/>
            <a:ext cx="43005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OUR GOAL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048250" y="5375076"/>
            <a:ext cx="4095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 develop a transformer-based model benchmarked against strong classical &amp; neural baselines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9840" y="1824752"/>
            <a:ext cx="4899969" cy="441015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303200" y="6335237"/>
            <a:ext cx="55179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Figure: </a:t>
            </a:r>
            <a:r>
              <a:rPr lang="en-US" sz="110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Weekly seasonality in NYC </a:t>
            </a:r>
            <a:r>
              <a:rPr lang="en-US" sz="110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taxi demand</a:t>
            </a:r>
            <a:endParaRPr sz="1474"/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2226468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Task: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Univariate time series anomaly detection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2790229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Dataset: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NAB NYC Taxi (trips every 30 mins)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3353990"/>
            <a:ext cx="4953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Characteristics: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Strong daily/weekly seasonality with rare anomalies (e.g., holidays, marathon)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57250" y="4252912"/>
            <a:ext cx="4953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Why this setup?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well-known benchmark simplifies comparison and serves as an ideal sandbox for testing evaluation pipelines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2169318"/>
            <a:ext cx="17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2733079"/>
            <a:ext cx="17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3296840"/>
            <a:ext cx="17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4195762"/>
            <a:ext cx="17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00100" y="571500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Problem &amp; Current Focus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4" title="bokeh_plot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5548" y="4061009"/>
            <a:ext cx="4728548" cy="202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title="over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5549" y="1935424"/>
            <a:ext cx="4728548" cy="1961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9725"/>
            <a:ext cx="3492400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609725"/>
            <a:ext cx="3492549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1609725"/>
            <a:ext cx="3492400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9050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66775" y="2667000"/>
            <a:ext cx="163020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Handling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66775" y="3086100"/>
            <a:ext cx="2901900" cy="25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Implemented a </a:t>
            </a: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loading and preprocessing pipeline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35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Time-based split (70/30) with correct DatetimeIndex parsing ensures no data leakage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4925" y="19050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4644925" y="2667000"/>
            <a:ext cx="284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Experiment Automation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644925" y="3086100"/>
            <a:ext cx="2901900" cy="28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Automated train/test/scoring pipeline for each model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Ground-truth labels integrated for evaluation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Designed for Dockerization and reproducible experiments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225" y="19050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8423225" y="2667000"/>
            <a:ext cx="215026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Evaluation Metrics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423225" y="3086100"/>
            <a:ext cx="2901900" cy="2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Using Precision, Recall, F1, and AUC-ROC </a:t>
            </a:r>
            <a:endParaRPr b="0" i="0" sz="135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Added </a:t>
            </a:r>
            <a:r>
              <a:rPr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Range Metrics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handle contiguous anomaly intervals more fairly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9175" y="2038350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78275" y="20383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56575" y="20383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&amp; Experiment Pipeline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029866"/>
            <a:ext cx="571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3549997"/>
            <a:ext cx="571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5070127"/>
            <a:ext cx="571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1600200" y="1991766"/>
            <a:ext cx="868108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Rolling Z-Score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600200" y="2315616"/>
            <a:ext cx="8267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Uses a 1 day window. Large Z-scores are flagged. While simple, it is highly sensitive to threshold settings and often weak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600200" y="3511897"/>
            <a:ext cx="868108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ARIMA Residuals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600200" y="3835747"/>
            <a:ext cx="8267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ARIMA(2,1,2) one-step forecast. Anomalies are large residuals. The scores are informative but noisy, making thresholding tricky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600200" y="5032027"/>
            <a:ext cx="868108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Isolation Forest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600200" y="5355877"/>
            <a:ext cx="8267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Tuned with contamination ≈ 0.01. It detects 2/3 of labeled events with the best F1 range and AUC-ROC.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Current strongest classical baseline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00100" y="571500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Classical Baselines Implemented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86719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1609725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LSTM Forecasting Baseline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438" y="4351140"/>
            <a:ext cx="55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Transformer Progress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381750" y="5991969"/>
            <a:ext cx="5238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Figure: Transformer Architecture (Reference)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57250" y="2076450"/>
            <a:ext cx="4953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Architecture: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Univariate LSTM with a 72-step lookback window predicting the next value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57250" y="2975371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Scoring: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Anomaly score = Absolute forecast error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57250" y="3524656"/>
            <a:ext cx="4953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Behavior: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Very few alarms</a:t>
            </a:r>
            <a:r>
              <a:rPr lang="en-US" sz="16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-&gt;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high precision but lower recall compared to Isolation Forest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57188" y="4817865"/>
            <a:ext cx="4953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Mini-transformer built from scratch (encoder-style)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57188" y="5716787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TranAD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deployed and running on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57188" y="6227631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niversity scientific cluster for heavy </a:t>
            </a:r>
            <a:r>
              <a:rPr lang="en-US" sz="16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runs</a:t>
            </a:r>
            <a:endParaRPr/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96244"/>
            <a:ext cx="5219699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571500" y="2003156"/>
            <a:ext cx="1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71500" y="2902077"/>
            <a:ext cx="1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71500" y="3451361"/>
            <a:ext cx="1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571500" y="4741348"/>
            <a:ext cx="1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571500" y="5640270"/>
            <a:ext cx="1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571500" y="6797873"/>
            <a:ext cx="17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00100" y="571500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Neural Baseline &amp; Transformer Work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9725"/>
            <a:ext cx="3492400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609725"/>
            <a:ext cx="3492549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1609725"/>
            <a:ext cx="3492400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9050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866775" y="2667000"/>
            <a:ext cx="191023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Metrics &amp; Labels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66775" y="3086100"/>
            <a:ext cx="2901900" cy="28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Given the few labeled anomalies, point metrics are unstable </a:t>
            </a:r>
            <a:endParaRPr b="0" i="0" sz="135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Range-based metrics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provide a more intuitive and fair evaluation of model performance</a:t>
            </a:r>
            <a:endParaRPr/>
          </a:p>
        </p:txBody>
      </p:sp>
      <p:pic>
        <p:nvPicPr>
          <p:cNvPr descr="image.png" id="185" name="Google Shape;18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4925" y="19050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4644925" y="2667000"/>
            <a:ext cx="245030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Threshold Sensitivity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4644925" y="3086100"/>
            <a:ext cx="2901900" cy="25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Small changes in thresholds (Z-score limits, contamination rates) lead to massive swings in precision/recall</a:t>
            </a:r>
            <a:endParaRPr b="0" i="0" sz="135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Robust thresholding is a key challenge</a:t>
            </a:r>
            <a:endParaRPr/>
          </a:p>
        </p:txBody>
      </p:sp>
      <p:pic>
        <p:nvPicPr>
          <p:cNvPr descr="image.png" id="188" name="Google Shape;188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225" y="19050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8423225" y="2667000"/>
            <a:ext cx="14201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 Roles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8423225" y="3086100"/>
            <a:ext cx="2901900" cy="28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b="1"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ARIMA</a:t>
            </a: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is too noisy for this dataset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LSTM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is conservative (high confidence, low quantity)</a:t>
            </a:r>
            <a:endParaRPr b="0" i="0" sz="135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b="1"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Isolation Forest</a:t>
            </a: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offers the best trade-off so far</a:t>
            </a:r>
            <a:endParaRPr/>
          </a:p>
        </p:txBody>
      </p:sp>
      <p:pic>
        <p:nvPicPr>
          <p:cNvPr descr="image.png" id="191" name="Google Shape;191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" y="20383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78275" y="20383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18475" y="203835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800100" y="571500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Key Insights So Far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0432"/>
            <a:ext cx="11049149" cy="451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571500" y="6797873"/>
            <a:ext cx="17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Baseline Anomaly Detection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9" title="arim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800" y="1886957"/>
            <a:ext cx="10882401" cy="4227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0432"/>
            <a:ext cx="11049149" cy="451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571500" y="6797873"/>
            <a:ext cx="17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Baseline Anomaly Detection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0" title="if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800" y="1886957"/>
            <a:ext cx="10882401" cy="4227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9725"/>
            <a:ext cx="5334000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09725"/>
            <a:ext cx="5334000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962025" y="2000250"/>
            <a:ext cx="342042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Transformer Experiments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962025" y="2466975"/>
            <a:ext cx="32575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6677025" y="2000250"/>
            <a:ext cx="411051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Stronger Baselines &amp; Outcome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6677025" y="2466975"/>
            <a:ext cx="39147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1190625" y="2924175"/>
            <a:ext cx="4324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Train and tune transformer on NYC Taxi &amp; additional NAB datasets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190625" y="3724275"/>
            <a:ext cx="4324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Find the right embedding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s: </a:t>
            </a:r>
            <a:b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Sinusoidal vs. Time2Vec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1190625" y="4524375"/>
            <a:ext cx="4324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Test strategies: Reconstruction vs. Forecasting vs. Hybrid scoring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905625" y="2924175"/>
            <a:ext cx="4324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Add features (lag, hour-of-day, day-of-week) to Isolation Forest &amp; LSTM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905625" y="3724275"/>
            <a:ext cx="4324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Fair comparison of classical, LSTM and transformer-based methods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905625" y="4524375"/>
            <a:ext cx="4324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End-to-end demo with visual anomaly overlays and a fair performance summary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962025" y="29241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962025" y="37242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962025" y="45243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677025" y="29241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677025" y="37242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677025" y="45243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Next Steps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